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FF"/>
    <a:srgbClr val="FF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660"/>
  </p:normalViewPr>
  <p:slideViewPr>
    <p:cSldViewPr snapToGrid="0">
      <p:cViewPr>
        <p:scale>
          <a:sx n="75" d="100"/>
          <a:sy n="75" d="100"/>
        </p:scale>
        <p:origin x="1044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938DFF-B208-4694-B4D6-EDA5A3B114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C0C027C-42E8-4573-9179-4985F69D44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00924D2-C151-4310-83B4-83CB7CFAF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B9B34-7399-4D3B-872C-0B6114484336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91B4350-D9DF-49F8-BC95-1BC8CA5F2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EA3E8F-71BF-4D2A-A51B-07B3DD95A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16193-02BA-4BFB-A321-FE0AE942A9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8687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EE80CF-4C4B-4DF8-9A5E-3D2C71435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55F401-12E5-444E-8827-0213DBDA78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DE254CF-F29B-4624-9819-FEB5E977D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B9B34-7399-4D3B-872C-0B6114484336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C1D95E6-736B-4350-9D80-5770C334A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759E41-127C-48B2-88DD-76FC45D36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16193-02BA-4BFB-A321-FE0AE942A9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8651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15B08D-E823-40D3-BF81-D050CB477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DA88EE1-978B-420C-8F26-E63817202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2BF78AB-AF83-4357-90EB-B1DD6ACC6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B9B34-7399-4D3B-872C-0B6114484336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0F07DF-F5D8-4800-A0F9-5009361A4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CC570F0-EADE-4004-A702-5C1590B63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16193-02BA-4BFB-A321-FE0AE942A9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0142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75532B-3EB0-4816-A87F-BAF756A88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4CF07E-DB59-43BC-9B02-CAC7F5AC24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9567AB1-A06A-452C-8DC7-50806C120D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5E6EE54-15A3-4278-BB8D-9DAA559A9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B9B34-7399-4D3B-872C-0B6114484336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9A9928D-D871-4EB8-9D45-A54668054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8514108-EBDE-47DC-B0AC-C238DB2DA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16193-02BA-4BFB-A321-FE0AE942A9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8859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3DFD95-E0DB-4D4D-B3E0-118747D4F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5E2148A-6643-408A-B6CD-D49BA8F5D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286A9F4-B3CE-4775-A8AE-ADC2B1E0D0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D939DDC-A180-47A8-8BD5-F4349CCE80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0B12565-1592-42CA-A437-71E9679378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1DC5C79-C85F-4CB3-BEFE-94253EEE2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B9B34-7399-4D3B-872C-0B6114484336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67FA14D-127A-4F7E-8DB3-B9709994A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414ACC5-82B5-43EB-A5F5-CB1BCA682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16193-02BA-4BFB-A321-FE0AE942A9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2409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18B916-0676-4055-B913-B9161F77F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0DB0416-5F24-48E2-B9CD-697219047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B9B34-7399-4D3B-872C-0B6114484336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CC94430-962D-468E-96C7-084A67884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3EA2881-6DC4-4B5E-81C9-219D3E38A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16193-02BA-4BFB-A321-FE0AE942A9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0801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B650F6B-A5C0-4C95-B7E6-119602814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B9B34-7399-4D3B-872C-0B6114484336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68B63D0-10A8-44BE-81A0-AD8D72BCF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F7276DE-9AC4-43A8-AD15-7A9B67803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16193-02BA-4BFB-A321-FE0AE942A9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2868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B23EC5-D3BF-4E81-A5EF-072ACD4AC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ED0CC2-CFD5-4AA1-AD4A-76A04D264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5E75DDF-7CDB-4043-BCCA-B6C72A088F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1844907-0DF8-4E83-AB97-F66F53F8D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B9B34-7399-4D3B-872C-0B6114484336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FCD21D7-1C28-478D-904A-68EA581D0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3EFE932-B9C8-4B97-9207-8060E442D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16193-02BA-4BFB-A321-FE0AE942A9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7661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EF4DF4-7671-471F-8972-DEC195F52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699137D-E120-49BC-8187-CE44DA4AD3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EBCE43E-CDD9-4B66-AAA6-2BF6955C66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0AEE92C-8AF6-42D6-BD0B-B60F8BAFE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B9B34-7399-4D3B-872C-0B6114484336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7AA44AE-9794-47D4-94F9-FD88500A8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68B6151-9CD3-438A-AF16-FD401ADB9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16193-02BA-4BFB-A321-FE0AE942A9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1561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FDA27A-6846-4021-BFBF-0E88AC39C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7143A99-530B-4A28-8DC8-9E4BFD8FFD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8CCD60-CDD5-4491-90E9-74414CB91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B9B34-7399-4D3B-872C-0B6114484336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0299D3-5F9A-4677-A054-3BAFB5577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854A51-1CEF-48CC-A87C-979DC3931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16193-02BA-4BFB-A321-FE0AE942A9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777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D736851-C29C-4284-AA5E-62163505FF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918D961-E53C-4280-870D-A844145EE9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192B901-B9FD-4EF2-B009-1338BB823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B9B34-7399-4D3B-872C-0B6114484336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C728C9A-BCB1-4C9A-A898-3DE284388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DA1D2C-021A-4D02-919A-85B89872E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16193-02BA-4BFB-A321-FE0AE942A9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1279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C3A60E-EBE0-44B7-8D76-38C5CBA6D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FD61324-77C5-4309-AA41-489504E7B5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2C3903-80CD-408D-8D6C-845BD7D2E3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5B9B34-7399-4D3B-872C-0B6114484336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6C972B5-2C01-4B53-B956-9972B87FCA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64671F9-F47E-4094-B7D6-FAECD6D05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A16193-02BA-4BFB-A321-FE0AE942A9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6425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FDEA52-8997-40EC-803E-FD7843C91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7963"/>
            <a:ext cx="9144000" cy="23876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miri Quran" panose="00000500000000000000" pitchFamily="2" charset="-78"/>
                <a:cs typeface="Amiri Quran" panose="00000500000000000000" pitchFamily="2" charset="-78"/>
              </a:rPr>
              <a:t>Defense of the Crystal</a:t>
            </a:r>
            <a:endParaRPr lang="ru-RU" dirty="0">
              <a:solidFill>
                <a:schemeClr val="bg1"/>
              </a:solidFill>
              <a:latin typeface="Arial" panose="020B0604020202020204" pitchFamily="34" charset="0"/>
              <a:cs typeface="Amiri Quran" panose="00000500000000000000" pitchFamily="2" charset="-78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0303B19-2974-46E6-890D-28F5715656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25531"/>
            <a:ext cx="9144000" cy="1655762"/>
          </a:xfrm>
        </p:spPr>
        <p:txBody>
          <a:bodyPr/>
          <a:lstStyle/>
          <a:p>
            <a:pPr algn="r"/>
            <a:r>
              <a:rPr lang="ru-RU" dirty="0">
                <a:solidFill>
                  <a:schemeClr val="bg1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Разработчик</a:t>
            </a:r>
            <a:r>
              <a:rPr lang="en-US" dirty="0">
                <a:solidFill>
                  <a:schemeClr val="bg1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: </a:t>
            </a:r>
            <a:r>
              <a:rPr lang="ru-RU" dirty="0">
                <a:solidFill>
                  <a:schemeClr val="bg1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Пронин Леонид</a:t>
            </a:r>
          </a:p>
          <a:p>
            <a:pPr algn="r"/>
            <a:r>
              <a:rPr lang="ru-RU" dirty="0">
                <a:solidFill>
                  <a:schemeClr val="bg1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Гейм дизайнер</a:t>
            </a:r>
            <a:r>
              <a:rPr lang="en-US" dirty="0">
                <a:solidFill>
                  <a:schemeClr val="bg1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: </a:t>
            </a:r>
            <a:r>
              <a:rPr lang="ru-RU" dirty="0">
                <a:solidFill>
                  <a:schemeClr val="bg1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Пронин Леонид</a:t>
            </a:r>
          </a:p>
        </p:txBody>
      </p:sp>
    </p:spTree>
    <p:extLst>
      <p:ext uri="{BB962C8B-B14F-4D97-AF65-F5344CB8AC3E}">
        <p14:creationId xmlns:p14="http://schemas.microsoft.com/office/powerpoint/2010/main" val="2200632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462FD4-A9B2-441C-A4E9-16D4664CD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4890" y="946407"/>
            <a:ext cx="5068910" cy="4649273"/>
          </a:xfrm>
        </p:spPr>
        <p:txBody>
          <a:bodyPr>
            <a:normAutofit/>
          </a:bodyPr>
          <a:lstStyle/>
          <a:p>
            <a:r>
              <a:rPr lang="ru-RU" sz="2400" b="1" i="0" dirty="0">
                <a:solidFill>
                  <a:schemeClr val="bg1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	Суть игры:</a:t>
            </a:r>
            <a:br>
              <a:rPr lang="ru-RU" sz="2400" b="0" i="0" dirty="0">
                <a:solidFill>
                  <a:schemeClr val="bg1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</a:br>
            <a:r>
              <a:rPr lang="ru-RU" sz="2400" b="1" i="0" dirty="0">
                <a:solidFill>
                  <a:schemeClr val="bg1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Жанр:</a:t>
            </a:r>
            <a:r>
              <a:rPr lang="ru-RU" sz="2400" b="0" i="0" dirty="0">
                <a:solidFill>
                  <a:schemeClr val="bg1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 Гибрид Action-RPG и Tower Defence.</a:t>
            </a:r>
            <a:br>
              <a:rPr lang="ru-RU" sz="2400" b="0" i="0" dirty="0">
                <a:solidFill>
                  <a:schemeClr val="bg1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</a:br>
            <a:r>
              <a:rPr lang="ru-RU" sz="2400" b="1" i="0" dirty="0">
                <a:solidFill>
                  <a:schemeClr val="bg1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Сюжет:</a:t>
            </a:r>
            <a:r>
              <a:rPr lang="ru-RU" sz="2400" b="0" i="0" dirty="0">
                <a:solidFill>
                  <a:schemeClr val="bg1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 Рыцарь защищает магический Кристалл от бесконечных волн монстров.</a:t>
            </a:r>
            <a:br>
              <a:rPr lang="ru-RU" sz="2400" b="0" i="0" dirty="0">
                <a:solidFill>
                  <a:schemeClr val="bg1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</a:br>
            <a:r>
              <a:rPr lang="ru-RU" sz="2400" b="1" i="0" dirty="0">
                <a:solidFill>
                  <a:schemeClr val="bg1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Задача игрока:</a:t>
            </a:r>
            <a:r>
              <a:rPr lang="ru-RU" sz="2400" b="0" i="0" dirty="0">
                <a:solidFill>
                  <a:schemeClr val="bg1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 Отразить 15 волн врагов, прокачать героя и победить финального Босса.</a:t>
            </a:r>
            <a:br>
              <a:rPr lang="ru-RU" sz="2400" b="0" i="0" dirty="0">
                <a:solidFill>
                  <a:schemeClr val="bg1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</a:br>
            <a:r>
              <a:rPr lang="ru-RU" sz="2400" b="1" i="0" dirty="0">
                <a:solidFill>
                  <a:schemeClr val="bg1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Условие поражения:</a:t>
            </a:r>
            <a:r>
              <a:rPr lang="ru-RU" sz="2400" b="0" i="0" dirty="0">
                <a:solidFill>
                  <a:schemeClr val="bg1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 Уничтожение Кристалла врагами.</a:t>
            </a:r>
            <a:br>
              <a:rPr lang="ru-RU" sz="2400" b="0" i="0" dirty="0">
                <a:solidFill>
                  <a:schemeClr val="bg1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</a:br>
            <a:endParaRPr lang="ru-RU" sz="2400" dirty="0">
              <a:solidFill>
                <a:schemeClr val="bg1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184321-68A8-4F75-9EC5-38BF8654C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2129"/>
            <a:ext cx="5068910" cy="4914833"/>
          </a:xfrm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ru-RU" b="1" i="0" dirty="0">
                <a:solidFill>
                  <a:schemeClr val="bg1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	Цель проекта:</a:t>
            </a:r>
            <a:br>
              <a:rPr lang="ru-RU" dirty="0">
                <a:solidFill>
                  <a:schemeClr val="bg1"/>
                </a:solidFill>
                <a:latin typeface="Carlito" panose="020F0502020204030204" pitchFamily="34" charset="0"/>
                <a:cs typeface="Carlito" panose="020F0502020204030204" pitchFamily="34" charset="0"/>
              </a:rPr>
            </a:br>
            <a:r>
              <a:rPr lang="ru-RU" b="0" i="0" dirty="0">
                <a:solidFill>
                  <a:schemeClr val="bg1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Создание полноценной компьютерной игры на языке Python с использованием объектно-ориентированного подхода.</a:t>
            </a:r>
            <a:endParaRPr lang="ru-RU" dirty="0">
              <a:solidFill>
                <a:schemeClr val="bg1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1214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F097B9-ED2B-4551-A0BD-3C8E83240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i="0" dirty="0">
                <a:solidFill>
                  <a:srgbClr val="D4D4D4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Функционал и Геймплей</a:t>
            </a:r>
            <a:endParaRPr lang="ru-RU" dirty="0">
              <a:latin typeface="Carlito" panose="020F0502020204030204" pitchFamily="34" charset="0"/>
              <a:cs typeface="Carlito" panose="020F050202020403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C07EA4-CB5D-4443-ABE1-1C4025B18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D4D4D4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Боевая система:</a:t>
            </a:r>
            <a:r>
              <a:rPr lang="ru-RU" b="0" i="0" dirty="0">
                <a:solidFill>
                  <a:srgbClr val="D4D4D4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 Ближний бой (меч) и дальний бой (магия).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D4D4D4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Система навыков:</a:t>
            </a:r>
            <a:r>
              <a:rPr lang="ru-RU" b="0" i="0" dirty="0">
                <a:solidFill>
                  <a:srgbClr val="D4D4D4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 4 активных способности (Огненный шар, Лечение, Ускорение, Кольцо льда).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D4D4D4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RPG-элементы:</a:t>
            </a:r>
            <a:r>
              <a:rPr lang="ru-RU" b="0" i="0" dirty="0">
                <a:solidFill>
                  <a:srgbClr val="D4D4D4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 Получение опыта (XP), повышение уровня, выбор улучшений.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D4D4D4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Интерфейс (HUD):</a:t>
            </a:r>
            <a:r>
              <a:rPr lang="ru-RU" b="0" i="0" dirty="0">
                <a:solidFill>
                  <a:srgbClr val="D4D4D4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 Отображение здоровья (HP), маны (MP) и состояния Кристалла.</a:t>
            </a:r>
          </a:p>
          <a:p>
            <a:endParaRPr lang="ru-RU" dirty="0">
              <a:latin typeface="Carlito" panose="020F0502020204030204" pitchFamily="34" charset="0"/>
              <a:cs typeface="Carlito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5738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5C7056-09E5-4261-9142-73F02AC31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i="0" dirty="0">
                <a:solidFill>
                  <a:srgbClr val="D4D4D4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Используемые технологии</a:t>
            </a:r>
            <a:endParaRPr lang="ru-RU" dirty="0">
              <a:latin typeface="Carlito" panose="020F0502020204030204" pitchFamily="34" charset="0"/>
              <a:cs typeface="Carlito" panose="020F050202020403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239517A-E9E0-4857-BF88-798E40965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D4D4D4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Язык программирования:</a:t>
            </a:r>
            <a:r>
              <a:rPr lang="ru-RU" b="0" i="0" dirty="0">
                <a:solidFill>
                  <a:srgbClr val="D4D4D4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 Python 3.14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D4D4D4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Графическая библиотека:</a:t>
            </a:r>
            <a:r>
              <a:rPr lang="ru-RU" b="0" i="0" dirty="0">
                <a:solidFill>
                  <a:srgbClr val="D4D4D4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 </a:t>
            </a:r>
            <a:r>
              <a:rPr lang="ru-RU" b="0" i="0" dirty="0" err="1">
                <a:solidFill>
                  <a:srgbClr val="D4D4D4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Arcade</a:t>
            </a:r>
            <a:r>
              <a:rPr lang="ru-RU" b="0" i="0" dirty="0">
                <a:solidFill>
                  <a:srgbClr val="D4D4D4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 (версия 3.3.3)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D4D4D4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Управление данными:</a:t>
            </a:r>
            <a:r>
              <a:rPr lang="ru-RU" b="0" i="0" dirty="0">
                <a:solidFill>
                  <a:srgbClr val="D4D4D4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 JSON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D4D4D4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Используется для сохранения и загрузки настроек управления.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D4D4D4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Файловая система:</a:t>
            </a:r>
            <a:r>
              <a:rPr lang="ru-RU" b="0" i="0" dirty="0">
                <a:solidFill>
                  <a:srgbClr val="D4D4D4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 </a:t>
            </a:r>
            <a:r>
              <a:rPr lang="ru-RU" b="0" i="0" dirty="0" err="1">
                <a:solidFill>
                  <a:srgbClr val="D4D4D4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Pathlib</a:t>
            </a:r>
            <a:endParaRPr lang="ru-RU" b="0" i="0" dirty="0">
              <a:solidFill>
                <a:srgbClr val="D4D4D4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D4D4D4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Обеспечивает кроссплатформенность путей (Windows/Linux/</a:t>
            </a:r>
            <a:r>
              <a:rPr lang="ru-RU" b="0" i="0" dirty="0" err="1">
                <a:solidFill>
                  <a:srgbClr val="D4D4D4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macOS</a:t>
            </a:r>
            <a:r>
              <a:rPr lang="ru-RU" b="0" i="0" dirty="0">
                <a:solidFill>
                  <a:srgbClr val="D4D4D4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).</a:t>
            </a:r>
          </a:p>
          <a:p>
            <a:pPr marL="0" indent="0">
              <a:buNone/>
            </a:pPr>
            <a:endParaRPr lang="ru-RU" dirty="0">
              <a:latin typeface="Carlito" panose="020F0502020204030204" pitchFamily="34" charset="0"/>
              <a:cs typeface="Carlito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209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5F0D7B-9142-4745-B42F-B174A853E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i="0" dirty="0">
                <a:solidFill>
                  <a:srgbClr val="D4D4D4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Структура</a:t>
            </a:r>
            <a:endParaRPr lang="ru-RU" dirty="0">
              <a:latin typeface="Carlito" panose="020F0502020204030204" pitchFamily="34" charset="0"/>
              <a:cs typeface="Carlito" panose="020F050202020403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128625-8B6F-45FC-8014-714A2C9E0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+mj-lt"/>
              <a:buAutoNum type="arabicPeriod"/>
            </a:pPr>
            <a:r>
              <a:rPr lang="de-DE" b="1" i="0" dirty="0">
                <a:solidFill>
                  <a:schemeClr val="bg1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main.py</a:t>
            </a:r>
            <a:r>
              <a:rPr lang="de-DE" b="0" i="0" dirty="0">
                <a:solidFill>
                  <a:schemeClr val="bg1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: </a:t>
            </a:r>
            <a:r>
              <a:rPr lang="ru-RU" b="0" i="0" dirty="0">
                <a:solidFill>
                  <a:schemeClr val="bg1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Инициализация окна и запуск игрового цикла.</a:t>
            </a:r>
          </a:p>
          <a:p>
            <a:pPr algn="l">
              <a:buFont typeface="+mj-lt"/>
              <a:buAutoNum type="arabicPeriod"/>
            </a:pPr>
            <a:r>
              <a:rPr lang="de-DE" b="1" i="0" dirty="0">
                <a:solidFill>
                  <a:schemeClr val="bg1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entities.py</a:t>
            </a:r>
            <a:r>
              <a:rPr lang="de-DE" b="0" i="0" dirty="0">
                <a:solidFill>
                  <a:schemeClr val="bg1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: </a:t>
            </a:r>
            <a:r>
              <a:rPr lang="ru-RU" b="0" i="0" dirty="0">
                <a:solidFill>
                  <a:schemeClr val="bg1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Классы игровых объектов (ООП):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de-DE" b="0" i="0" dirty="0">
                <a:solidFill>
                  <a:schemeClr val="bg1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Player, Enemy, Boss (</a:t>
            </a:r>
            <a:r>
              <a:rPr lang="ru-RU" b="0" i="0" dirty="0">
                <a:solidFill>
                  <a:schemeClr val="bg1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наследуются от </a:t>
            </a:r>
            <a:r>
              <a:rPr lang="de-DE" b="0" i="0" dirty="0">
                <a:solidFill>
                  <a:schemeClr val="bg1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Entity).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de-DE" b="0" i="0" dirty="0">
                <a:solidFill>
                  <a:schemeClr val="bg1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Bullet, Sword, </a:t>
            </a:r>
            <a:r>
              <a:rPr lang="de-DE" b="0" i="0" dirty="0" err="1">
                <a:solidFill>
                  <a:schemeClr val="bg1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Particle</a:t>
            </a:r>
            <a:r>
              <a:rPr lang="de-DE" b="0" i="0" dirty="0">
                <a:solidFill>
                  <a:schemeClr val="bg1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 (</a:t>
            </a:r>
            <a:r>
              <a:rPr lang="ru-RU" b="0" i="0" dirty="0">
                <a:solidFill>
                  <a:schemeClr val="bg1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наследуются от </a:t>
            </a:r>
            <a:r>
              <a:rPr lang="de-DE" b="0" i="0" dirty="0" err="1">
                <a:solidFill>
                  <a:schemeClr val="bg1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arcade.Sprite</a:t>
            </a:r>
            <a:r>
              <a:rPr lang="de-DE" b="0" i="0" dirty="0">
                <a:solidFill>
                  <a:schemeClr val="bg1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).</a:t>
            </a:r>
          </a:p>
          <a:p>
            <a:pPr algn="l">
              <a:buFont typeface="+mj-lt"/>
              <a:buAutoNum type="arabicPeriod"/>
            </a:pPr>
            <a:r>
              <a:rPr lang="de-DE" b="1" i="0" dirty="0" err="1">
                <a:solidFill>
                  <a:schemeClr val="bg1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views</a:t>
            </a:r>
            <a:r>
              <a:rPr lang="de-DE" b="1" i="0" dirty="0">
                <a:solidFill>
                  <a:schemeClr val="bg1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/</a:t>
            </a:r>
            <a:r>
              <a:rPr lang="de-DE" b="0" i="0" dirty="0">
                <a:solidFill>
                  <a:schemeClr val="bg1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: </a:t>
            </a:r>
            <a:r>
              <a:rPr lang="ru-RU" b="0" i="0" dirty="0">
                <a:solidFill>
                  <a:schemeClr val="bg1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Управление экранами (паттерн </a:t>
            </a:r>
            <a:r>
              <a:rPr lang="de-DE" b="0" i="0" dirty="0">
                <a:solidFill>
                  <a:schemeClr val="bg1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View):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de-DE" b="0" i="0" dirty="0">
                <a:solidFill>
                  <a:schemeClr val="bg1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game_view.py: </a:t>
            </a:r>
            <a:r>
              <a:rPr lang="ru-RU" b="0" i="0" dirty="0">
                <a:solidFill>
                  <a:schemeClr val="bg1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Основная логика игры, физика, коллизии.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de-DE" b="0" i="0" dirty="0">
                <a:solidFill>
                  <a:schemeClr val="bg1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menu_view.py: </a:t>
            </a:r>
            <a:r>
              <a:rPr lang="ru-RU" b="0" i="0" dirty="0">
                <a:solidFill>
                  <a:schemeClr val="bg1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Главное меню.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de-DE" b="0" i="0" dirty="0">
                <a:solidFill>
                  <a:schemeClr val="bg1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settings_view.py: </a:t>
            </a:r>
            <a:r>
              <a:rPr lang="ru-RU" b="0" i="0" dirty="0">
                <a:solidFill>
                  <a:schemeClr val="bg1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Меню настроек управления.</a:t>
            </a:r>
          </a:p>
          <a:p>
            <a:pPr algn="l">
              <a:buFont typeface="+mj-lt"/>
              <a:buAutoNum type="arabicPeriod"/>
            </a:pPr>
            <a:r>
              <a:rPr lang="de-DE" b="1" i="0" dirty="0">
                <a:solidFill>
                  <a:schemeClr val="bg1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const.py</a:t>
            </a:r>
            <a:r>
              <a:rPr lang="de-DE" b="0" i="0" dirty="0">
                <a:solidFill>
                  <a:schemeClr val="bg1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: </a:t>
            </a:r>
            <a:r>
              <a:rPr lang="ru-RU" b="0" i="0" dirty="0">
                <a:solidFill>
                  <a:schemeClr val="bg1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Константы, настройки баланса и работа с </a:t>
            </a:r>
            <a:r>
              <a:rPr lang="de-DE" b="0" i="0" dirty="0">
                <a:solidFill>
                  <a:schemeClr val="bg1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JSON.</a:t>
            </a:r>
          </a:p>
          <a:p>
            <a:endParaRPr lang="ru-RU" dirty="0">
              <a:solidFill>
                <a:schemeClr val="bg1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20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25D3BA-2E44-4881-AE5B-C445D0C97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Дизайн персонажей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82DF76B-32DD-4B8C-8FA9-A8F4212AB8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429000"/>
            <a:ext cx="1115171" cy="133820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54D95BE-F3E1-4129-8F35-5585D72D55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8400" y="3542735"/>
            <a:ext cx="849387" cy="111073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36CB597-E362-4144-90C4-D8356B43F0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6700" y="3307743"/>
            <a:ext cx="1514854" cy="1580717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08C7104-54EF-4A7B-9013-CD0EDACA456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6554" y="3036428"/>
            <a:ext cx="1909909" cy="18520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C8CFBD4-2999-493D-802F-13362CD35ABC}"/>
              </a:ext>
            </a:extLst>
          </p:cNvPr>
          <p:cNvSpPr txBox="1"/>
          <p:nvPr/>
        </p:nvSpPr>
        <p:spPr>
          <a:xfrm>
            <a:off x="489404" y="5119290"/>
            <a:ext cx="21259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Главный герой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E84945-6371-472E-8EF4-B23F1C01F195}"/>
              </a:ext>
            </a:extLst>
          </p:cNvPr>
          <p:cNvSpPr txBox="1"/>
          <p:nvPr/>
        </p:nvSpPr>
        <p:spPr>
          <a:xfrm>
            <a:off x="5980187" y="2574763"/>
            <a:ext cx="17732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Противники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BF9C2E-DEE2-4D14-8B11-103E2B149027}"/>
              </a:ext>
            </a:extLst>
          </p:cNvPr>
          <p:cNvSpPr txBox="1"/>
          <p:nvPr/>
        </p:nvSpPr>
        <p:spPr>
          <a:xfrm>
            <a:off x="3567072" y="5119292"/>
            <a:ext cx="11320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Гоблин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1B48CA-D8B9-499D-BFB4-FC5FE5FA97E5}"/>
              </a:ext>
            </a:extLst>
          </p:cNvPr>
          <p:cNvSpPr txBox="1"/>
          <p:nvPr/>
        </p:nvSpPr>
        <p:spPr>
          <a:xfrm>
            <a:off x="6554341" y="5119290"/>
            <a:ext cx="10743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Скелет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FD9837-F00F-409E-A5FB-40E3E335A607}"/>
              </a:ext>
            </a:extLst>
          </p:cNvPr>
          <p:cNvSpPr txBox="1"/>
          <p:nvPr/>
        </p:nvSpPr>
        <p:spPr>
          <a:xfrm>
            <a:off x="8728546" y="5119289"/>
            <a:ext cx="23711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Финальный босс</a:t>
            </a:r>
          </a:p>
        </p:txBody>
      </p:sp>
    </p:spTree>
    <p:extLst>
      <p:ext uri="{BB962C8B-B14F-4D97-AF65-F5344CB8AC3E}">
        <p14:creationId xmlns:p14="http://schemas.microsoft.com/office/powerpoint/2010/main" val="672285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A9823F-B08F-47A0-B936-A826C0EDC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i="0" dirty="0">
                <a:solidFill>
                  <a:schemeClr val="bg1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Заключение и перспективы</a:t>
            </a:r>
            <a:endParaRPr lang="ru-RU" dirty="0">
              <a:solidFill>
                <a:schemeClr val="bg1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E0E79D-1E7A-42AD-975A-4CC7D6DA1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61000" cy="4351338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2400" b="1" i="0" dirty="0">
                <a:solidFill>
                  <a:schemeClr val="bg1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Итоги:</a:t>
            </a:r>
            <a:endParaRPr lang="ru-RU" sz="2400" b="0" i="0" dirty="0">
              <a:solidFill>
                <a:schemeClr val="bg1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bg1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Разработано полнофункциональное игровое приложение.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bg1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Реализованы: физика столкновений, анимация, система частиц, сохранение данных.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bg1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Применены навыки работы с векторами, тригонометрией (расчет углов атаки) и ООП.</a:t>
            </a:r>
          </a:p>
          <a:p>
            <a:endParaRPr lang="ru-RU" sz="2400" dirty="0">
              <a:solidFill>
                <a:schemeClr val="bg1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1D947488-F25E-40CC-93F2-D2A4019C01F1}"/>
              </a:ext>
            </a:extLst>
          </p:cNvPr>
          <p:cNvSpPr txBox="1">
            <a:spLocks/>
          </p:cNvSpPr>
          <p:nvPr/>
        </p:nvSpPr>
        <p:spPr>
          <a:xfrm>
            <a:off x="6096000" y="1960562"/>
            <a:ext cx="5461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ru-RU" sz="2400" b="1" i="0" dirty="0">
                <a:solidFill>
                  <a:schemeClr val="bg1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Перспективы развития:</a:t>
            </a:r>
            <a:endParaRPr lang="ru-RU" sz="2400" b="0" i="0" dirty="0">
              <a:solidFill>
                <a:schemeClr val="bg1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bg1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Добавление новых звуковых эффектов и фоновой музыки.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bg1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Внедрение физического движка </a:t>
            </a:r>
            <a:r>
              <a:rPr lang="ru-RU" sz="2400" b="0" i="0" dirty="0" err="1">
                <a:solidFill>
                  <a:schemeClr val="bg1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Pymunk</a:t>
            </a:r>
            <a:r>
              <a:rPr lang="ru-RU" sz="2400" b="0" i="0" dirty="0">
                <a:solidFill>
                  <a:schemeClr val="bg1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 для более сложной физики.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bg1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Добавление камеры (слежение за игроком) для больших карт.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bg1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Создание редактора уровней.</a:t>
            </a:r>
          </a:p>
        </p:txBody>
      </p:sp>
    </p:spTree>
    <p:extLst>
      <p:ext uri="{BB962C8B-B14F-4D97-AF65-F5344CB8AC3E}">
        <p14:creationId xmlns:p14="http://schemas.microsoft.com/office/powerpoint/2010/main" val="127329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01870BF-2A93-4AFA-A3D2-399F60E2A9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349"/>
            <a:ext cx="12192000" cy="6878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90627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365</Words>
  <Application>Microsoft Office PowerPoint</Application>
  <PresentationFormat>Широкоэкранный</PresentationFormat>
  <Paragraphs>43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Amiri Quran</vt:lpstr>
      <vt:lpstr>Arial</vt:lpstr>
      <vt:lpstr>Calibri</vt:lpstr>
      <vt:lpstr>Calibri Light</vt:lpstr>
      <vt:lpstr>Carlito</vt:lpstr>
      <vt:lpstr>Тема Office</vt:lpstr>
      <vt:lpstr>Defense of the Crystal</vt:lpstr>
      <vt:lpstr> Суть игры: Жанр: Гибрид Action-RPG и Tower Defence. Сюжет: Рыцарь защищает магический Кристалл от бесконечных волн монстров. Задача игрока: Отразить 15 волн врагов, прокачать героя и победить финального Босса. Условие поражения: Уничтожение Кристалла врагами. </vt:lpstr>
      <vt:lpstr>Функционал и Геймплей</vt:lpstr>
      <vt:lpstr>Используемые технологии</vt:lpstr>
      <vt:lpstr>Структура</vt:lpstr>
      <vt:lpstr>Дизайн персонажей</vt:lpstr>
      <vt:lpstr>Заключение и перспективы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Defense of the Crystal</dc:title>
  <dc:creator>_ _</dc:creator>
  <cp:lastModifiedBy>_ _</cp:lastModifiedBy>
  <cp:revision>4</cp:revision>
  <dcterms:created xsi:type="dcterms:W3CDTF">2026-02-26T12:57:30Z</dcterms:created>
  <dcterms:modified xsi:type="dcterms:W3CDTF">2026-02-26T13:14:11Z</dcterms:modified>
</cp:coreProperties>
</file>